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85" r:id="rId3"/>
    <p:sldId id="258" r:id="rId4"/>
    <p:sldId id="259" r:id="rId5"/>
    <p:sldId id="284" r:id="rId6"/>
    <p:sldId id="286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BF16-85D6-7820-F025-0159ABBF3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AF811-76A9-336F-0CD0-BCCAB454C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FF263-0F93-A47F-B3A3-44CB023D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30692-800D-C281-8B8F-43FE2553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70DEC-52EA-9912-9514-02F6672C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01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B20B-59D8-B851-CEBC-1022C29AE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759A4-3DC9-5555-2028-75AD15A42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DBDFB-9BF1-174A-8896-A1BFA196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EBA24-8D79-19F2-F01F-2E0FDAE7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E035C-75B9-9458-BB02-D36F887C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60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CD3C-4CF6-E167-A3D3-2517AD10E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631AF-0C6A-20A8-EF46-1B7647898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5A44A-A5B0-CB9B-B799-C4D580A46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475F7-7FB9-17D4-A3F7-315D0BD06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E47F1-4D0F-90D9-F16C-C1F9801C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5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7731-B76A-02F7-3C71-7E5242BFC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98114-A103-A971-CD17-2CBB4DFC9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6D93-78BC-77D8-E056-4821C5DDB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9D6F1-360D-F15E-18DD-29370053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425A-7758-3145-6A4F-762F7D9FC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F0A9B-8BDB-137D-B799-ADD11FA4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04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4CC5-46E4-0DF7-2F11-6F4EDACF5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10256-0D0A-76CA-441F-2C461667A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DD42C-1353-13D2-96E4-A3B98BFE4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6B31C3-9A69-5766-B4BB-76A5C6838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BFF7E-77CB-DB81-8846-D44096529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CCD3A0-32C4-B89A-769F-FEE16055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D17E2B-7BEA-E90D-294B-CA17B3131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C2E36-811D-C022-2E3D-EEBF724C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93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63D25-4A09-940A-DB1F-5E709438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9EFA72-79C5-461F-0A5A-092C733E3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9AE9CA-4353-982B-4780-CE79A2F7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30945-E32C-C3F4-ADB1-636B5E34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97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766C3B-7206-725C-D8DE-564A5542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430A6F-82E1-2DDA-6A13-5B8D7FF7D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BA346-D44E-DDBF-926D-6C99E118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31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CFB7-9E10-0AC9-8005-9BB1BBE7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E6285-FE40-E4F4-0D34-BFD4C5BC7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99D9E-AD83-B04D-421B-632512CC9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08CF7-62A4-852E-58C8-EE9107321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9AB9D-5010-802D-D7E5-A273506F0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AEB3D-96C1-ABFE-FF3D-F6A410B36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04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8C82-839B-D92C-2B1B-392C4D25C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7596F-C168-C47F-49FD-68B7ADA9CA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14CEF-2F7E-F131-29D9-CE95CBE73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5CC21-F5AB-F80E-674A-968FFE60F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A2343-2272-D1BD-16C0-56AED1C8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9794B-4DCA-3740-0337-2C54EEBC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57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67E5-1BD0-7537-1499-D899AC34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BE87C-7BBE-34CA-308B-F894B7814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633-3BBD-3C6C-1236-8DB3B11A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1E2D2-BC3C-7647-B926-DF911B3A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D8465-6B90-7926-92B0-8AB2B828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78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E36BA-7B95-F75B-A2BC-FB78A1ABD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D820B-2A3A-1367-9CC5-53CC73B30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24D51-9CCF-0C95-E3D5-8215D6FAC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AC93-6FF5-337D-D595-096988988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06E0E-26F7-CDE2-1401-BF7ECDD3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151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5825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2886" y="90678"/>
            <a:ext cx="10654157" cy="1096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856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53CF3A-5F9E-6D1B-8C97-E526D524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5164D-6A84-85FB-359E-03FA39D8B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9EA90-4F56-0AE7-78F4-3D75033E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AC191-4C53-2526-9985-D420BDC28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922F3-B7B0-DAC8-A146-6B057762B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19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.png"/><Relationship Id="rId4" Type="http://schemas.openxmlformats.org/officeDocument/2006/relationships/image" Target="../media/image3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5176" y="3072996"/>
            <a:ext cx="6983223" cy="57387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594995" marR="5080" indent="-582930">
              <a:lnSpc>
                <a:spcPts val="3910"/>
              </a:lnSpc>
              <a:spcBef>
                <a:spcPts val="575"/>
              </a:spcBef>
            </a:pPr>
            <a:r>
              <a:rPr lang="en-IN" sz="3600" b="1" spc="-210" dirty="0">
                <a:solidFill>
                  <a:srgbClr val="C00000"/>
                </a:solidFill>
                <a:latin typeface="+mn-lt"/>
              </a:rPr>
              <a:t>   </a:t>
            </a:r>
            <a:r>
              <a:rPr sz="3600" b="1" spc="-210" dirty="0">
                <a:solidFill>
                  <a:srgbClr val="C00000"/>
                </a:solidFill>
                <a:latin typeface="+mn-lt"/>
              </a:rPr>
              <a:t>GROCERY</a:t>
            </a:r>
            <a:r>
              <a:rPr sz="3600" b="1" spc="-65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IN" sz="3600" b="1" spc="-65" dirty="0">
                <a:solidFill>
                  <a:srgbClr val="C00000"/>
                </a:solidFill>
                <a:latin typeface="+mn-lt"/>
              </a:rPr>
              <a:t>  </a:t>
            </a:r>
            <a:r>
              <a:rPr sz="3600" b="1" spc="-100" dirty="0">
                <a:solidFill>
                  <a:srgbClr val="C00000"/>
                </a:solidFill>
                <a:latin typeface="+mn-lt"/>
              </a:rPr>
              <a:t>STORE</a:t>
            </a:r>
            <a:r>
              <a:rPr sz="3600" b="1" spc="-5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IN" sz="3600" b="1" spc="-270" dirty="0">
                <a:solidFill>
                  <a:srgbClr val="C00000"/>
                </a:solidFill>
                <a:latin typeface="+mn-lt"/>
              </a:rPr>
              <a:t>   </a:t>
            </a:r>
            <a:r>
              <a:rPr sz="3600" b="1" spc="-215" dirty="0">
                <a:solidFill>
                  <a:srgbClr val="C00000"/>
                </a:solidFill>
                <a:latin typeface="+mn-lt"/>
              </a:rPr>
              <a:t>MANAGEMENT</a:t>
            </a:r>
            <a:r>
              <a:rPr lang="en-IN" sz="3600" b="1" spc="20" dirty="0">
                <a:solidFill>
                  <a:srgbClr val="C00000"/>
                </a:solidFill>
                <a:latin typeface="+mn-lt"/>
              </a:rPr>
              <a:t>   </a:t>
            </a:r>
            <a:endParaRPr sz="3600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0"/>
            <a:ext cx="12115800" cy="2295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00518" y="4521530"/>
            <a:ext cx="3114675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cs typeface="Times New Roman"/>
              </a:rPr>
              <a:t>Name</a:t>
            </a:r>
            <a:r>
              <a:rPr sz="2800" b="1" spc="-10" dirty="0">
                <a:cs typeface="Times New Roman"/>
              </a:rPr>
              <a:t> </a:t>
            </a:r>
            <a:r>
              <a:rPr sz="2800" b="1" dirty="0">
                <a:cs typeface="Times New Roman"/>
              </a:rPr>
              <a:t>:</a:t>
            </a:r>
            <a:r>
              <a:rPr lang="en-IN" sz="2800" b="1" spc="-50" dirty="0">
                <a:cs typeface="Times New Roman"/>
              </a:rPr>
              <a:t>Golliwar Vijay</a:t>
            </a:r>
            <a:endParaRPr sz="2800" dirty="0"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84885" algn="l"/>
              </a:tabLst>
            </a:pPr>
            <a:r>
              <a:rPr sz="2800" b="1" spc="-10" dirty="0">
                <a:cs typeface="Times New Roman"/>
              </a:rPr>
              <a:t>Batch:</a:t>
            </a:r>
            <a:r>
              <a:rPr sz="2800" b="1" dirty="0">
                <a:cs typeface="Times New Roman"/>
              </a:rPr>
              <a:t>	</a:t>
            </a:r>
            <a:r>
              <a:rPr sz="2800" b="1" spc="-25" dirty="0">
                <a:cs typeface="Times New Roman"/>
              </a:rPr>
              <a:t>422</a:t>
            </a:r>
            <a:endParaRPr sz="2800" dirty="0"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D097-B15B-B2B2-59F2-7C531E930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INTRODUCTION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47EBB1-4FC1-F73E-4E06-A63104F99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19200"/>
            <a:ext cx="10668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Grocery Store Management System is an SQL-based project         designed to handle daily store operations.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manages information about products, suppliers, customers, employees, and sales.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uses SQL queries to store, organize, and analyze data efficiently.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helps find top-selling products, loyal customers, and sales trends.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project improves accuracy, decision-making, and business performance in retail management.</a:t>
            </a: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65F01BE9-3F07-953E-CC76-BF0EDA02F9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1338" y="469214"/>
            <a:ext cx="172338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TABLES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27456" y="1457325"/>
            <a:ext cx="298704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25" dirty="0">
                <a:latin typeface="Times New Roman"/>
                <a:cs typeface="Times New Roman"/>
              </a:rPr>
              <a:t>SUPPLIERS</a:t>
            </a:r>
            <a:r>
              <a:rPr sz="2750" spc="-12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TABLE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9209" y="1413459"/>
            <a:ext cx="25095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60" dirty="0">
                <a:latin typeface="Times New Roman"/>
                <a:cs typeface="Times New Roman"/>
              </a:rPr>
              <a:t>PRODUCTS</a:t>
            </a:r>
            <a:r>
              <a:rPr sz="2400" spc="-20" dirty="0">
                <a:latin typeface="Times New Roman"/>
                <a:cs typeface="Times New Roman"/>
              </a:rPr>
              <a:t> TABLE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042" y="3857955"/>
            <a:ext cx="2742565" cy="82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0" dirty="0">
                <a:latin typeface="Times New Roman"/>
                <a:cs typeface="Times New Roman"/>
              </a:rPr>
              <a:t>EMPLOYEES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TABLE</a:t>
            </a:r>
            <a:endParaRPr sz="2400">
              <a:latin typeface="Times New Roman"/>
              <a:cs typeface="Times New Roman"/>
            </a:endParaRPr>
          </a:p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sz="2750" spc="-50" dirty="0">
                <a:latin typeface="Arial MT"/>
                <a:cs typeface="Arial MT"/>
              </a:rPr>
              <a:t>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79209" y="3960367"/>
            <a:ext cx="2719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5" dirty="0">
                <a:latin typeface="Times New Roman"/>
                <a:cs typeface="Times New Roman"/>
              </a:rPr>
              <a:t>CUSTOMERS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TABLE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943" y="2209800"/>
            <a:ext cx="3925824" cy="11247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3223" y="2008632"/>
            <a:ext cx="4913376" cy="1524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888" y="4599432"/>
            <a:ext cx="4831080" cy="105765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3223" y="4599432"/>
            <a:ext cx="5199887" cy="11643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3256" y="4236211"/>
            <a:ext cx="123189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50" dirty="0">
                <a:latin typeface="Arial MT"/>
                <a:cs typeface="Arial MT"/>
              </a:rPr>
              <a:t>.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255" y="1106424"/>
            <a:ext cx="4486656" cy="1676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8022" y="474726"/>
            <a:ext cx="33737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5" dirty="0"/>
              <a:t>ORDER_DETAILS</a:t>
            </a:r>
            <a:r>
              <a:rPr sz="2400" spc="-40" dirty="0"/>
              <a:t> </a:t>
            </a:r>
            <a:r>
              <a:rPr sz="2400" spc="-10" dirty="0"/>
              <a:t>TABLE</a:t>
            </a:r>
            <a:endParaRPr sz="24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8711" y="1210055"/>
            <a:ext cx="4724399" cy="15727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63130" y="514603"/>
            <a:ext cx="2172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4" dirty="0">
                <a:latin typeface="Times New Roman"/>
                <a:cs typeface="Times New Roman"/>
              </a:rPr>
              <a:t>ORDERS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TABLE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70632" y="4876800"/>
            <a:ext cx="6031992" cy="9814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172839" y="4144517"/>
            <a:ext cx="2863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>
                <a:latin typeface="Times New Roman"/>
                <a:cs typeface="Times New Roman"/>
              </a:rPr>
              <a:t>CATEGORIES </a:t>
            </a:r>
            <a:r>
              <a:rPr sz="2400" spc="-20" dirty="0">
                <a:latin typeface="Times New Roman"/>
                <a:cs typeface="Times New Roman"/>
              </a:rPr>
              <a:t>TABLE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94625-F941-7F08-BC58-7526396BC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+mn-l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499B0-63A8-3075-B73F-05C751B72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1"/>
            <a:ext cx="10134600" cy="4648200"/>
          </a:xfrm>
        </p:spPr>
        <p:txBody>
          <a:bodyPr>
            <a:normAutofit fontScale="6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/>
              <a:t>The grocery store needs a system to store and manage data about products, suppliers, customers, and orders.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/>
              <a:t>Managers find it difficult to retrieve and analyze information efficiently.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/>
              <a:t>The goal is to build a relational database that organizes all store operations.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/>
              <a:t>Using SQL queries, the system should generate insights like best-selling products, top customers, and sales trends.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/>
              <a:t>This helps in better decision-making and improving overall business performance.</a:t>
            </a:r>
          </a:p>
          <a:p>
            <a:endParaRPr lang="en-IN" dirty="0"/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C4007B58-E7F0-7FE1-2158-179988E7EF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22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254D-1368-A9F8-F6ED-C302A8351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Objectives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E6D7E-A984-EB61-46F1-B9F8273E5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main goals of this SQL project are:</a:t>
            </a:r>
          </a:p>
          <a:p>
            <a:endParaRPr lang="en-US" dirty="0"/>
          </a:p>
          <a:p>
            <a:pPr fontAlgn="base"/>
            <a:r>
              <a:rPr lang="en-US" dirty="0"/>
              <a:t>To design and implement a relational database for a grocery store.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To retrieve and manipulate data using SQL queries.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To perform data analysis for business insights such as top customers, best-selling products, and revenue trends.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To practice using joins, aggregations, subqueries, and filtering techniques</a:t>
            </a:r>
            <a:r>
              <a:rPr lang="en-US" b="1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814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3256" y="4236211"/>
            <a:ext cx="123189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50" dirty="0">
                <a:latin typeface="Arial MT"/>
                <a:cs typeface="Arial MT"/>
              </a:rPr>
              <a:t>.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801623"/>
            <a:ext cx="8982456" cy="54742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414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ER</a:t>
            </a:r>
            <a:r>
              <a:rPr sz="2400" spc="-90" dirty="0"/>
              <a:t> </a:t>
            </a:r>
            <a:r>
              <a:rPr sz="2400" spc="-105" dirty="0"/>
              <a:t>DIAGRAM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939" y="341452"/>
            <a:ext cx="94157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Times New Roman"/>
                <a:cs typeface="Times New Roman"/>
              </a:rPr>
              <a:t>1.How</a:t>
            </a:r>
            <a:r>
              <a:rPr sz="3600" b="1" spc="-110" dirty="0">
                <a:latin typeface="Times New Roman"/>
                <a:cs typeface="Times New Roman"/>
              </a:rPr>
              <a:t> </a:t>
            </a:r>
            <a:r>
              <a:rPr sz="3600" b="1" spc="-175" dirty="0">
                <a:latin typeface="Times New Roman"/>
                <a:cs typeface="Times New Roman"/>
              </a:rPr>
              <a:t>many</a:t>
            </a:r>
            <a:r>
              <a:rPr sz="3600" b="1" spc="-155" dirty="0">
                <a:latin typeface="Times New Roman"/>
                <a:cs typeface="Times New Roman"/>
              </a:rPr>
              <a:t> </a:t>
            </a:r>
            <a:r>
              <a:rPr sz="3600" b="1" spc="-114" dirty="0">
                <a:latin typeface="Times New Roman"/>
                <a:cs typeface="Times New Roman"/>
              </a:rPr>
              <a:t>unique</a:t>
            </a:r>
            <a:r>
              <a:rPr sz="3600" b="1" spc="-90" dirty="0">
                <a:latin typeface="Times New Roman"/>
                <a:cs typeface="Times New Roman"/>
              </a:rPr>
              <a:t> </a:t>
            </a:r>
            <a:r>
              <a:rPr sz="3600" b="1" spc="-145" dirty="0">
                <a:latin typeface="Times New Roman"/>
                <a:cs typeface="Times New Roman"/>
              </a:rPr>
              <a:t>customers</a:t>
            </a:r>
            <a:r>
              <a:rPr sz="3600" b="1" spc="-204" dirty="0">
                <a:latin typeface="Times New Roman"/>
                <a:cs typeface="Times New Roman"/>
              </a:rPr>
              <a:t> </a:t>
            </a:r>
            <a:r>
              <a:rPr sz="3600" b="1" spc="-125" dirty="0">
                <a:latin typeface="Times New Roman"/>
                <a:cs typeface="Times New Roman"/>
              </a:rPr>
              <a:t>have</a:t>
            </a:r>
            <a:r>
              <a:rPr sz="3600" b="1" spc="-195" dirty="0">
                <a:latin typeface="Times New Roman"/>
                <a:cs typeface="Times New Roman"/>
              </a:rPr>
              <a:t> </a:t>
            </a:r>
            <a:r>
              <a:rPr sz="3600" b="1" spc="-114" dirty="0">
                <a:latin typeface="Times New Roman"/>
                <a:cs typeface="Times New Roman"/>
              </a:rPr>
              <a:t>placed</a:t>
            </a:r>
            <a:r>
              <a:rPr sz="3600" b="1" spc="-155" dirty="0">
                <a:latin typeface="Times New Roman"/>
                <a:cs typeface="Times New Roman"/>
              </a:rPr>
              <a:t> </a:t>
            </a:r>
            <a:r>
              <a:rPr sz="3600" b="1" spc="-45" dirty="0">
                <a:latin typeface="Times New Roman"/>
                <a:cs typeface="Times New Roman"/>
              </a:rPr>
              <a:t>orders?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5711" y="1191767"/>
            <a:ext cx="6934200" cy="6949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2423" y="2371344"/>
            <a:ext cx="3151631" cy="8290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4019" y="1853945"/>
            <a:ext cx="10161270" cy="29070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917575" algn="ctr">
              <a:lnSpc>
                <a:spcPct val="100000"/>
              </a:lnSpc>
              <a:spcBef>
                <a:spcPts val="110"/>
              </a:spcBef>
            </a:pPr>
            <a:r>
              <a:rPr sz="2750" b="1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5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b="1" spc="-35" dirty="0">
                <a:latin typeface="Times New Roman"/>
                <a:cs typeface="Times New Roman"/>
              </a:rPr>
              <a:t>2.Which</a:t>
            </a:r>
            <a:r>
              <a:rPr sz="3200" b="1" spc="-145" dirty="0">
                <a:latin typeface="Times New Roman"/>
                <a:cs typeface="Times New Roman"/>
              </a:rPr>
              <a:t> </a:t>
            </a:r>
            <a:r>
              <a:rPr sz="3200" b="1" spc="-130" dirty="0">
                <a:latin typeface="Times New Roman"/>
                <a:cs typeface="Times New Roman"/>
              </a:rPr>
              <a:t>customers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b="1" spc="-125" dirty="0">
                <a:latin typeface="Times New Roman"/>
                <a:cs typeface="Times New Roman"/>
              </a:rPr>
              <a:t>have</a:t>
            </a:r>
            <a:r>
              <a:rPr sz="3200" b="1" spc="-225" dirty="0">
                <a:latin typeface="Times New Roman"/>
                <a:cs typeface="Times New Roman"/>
              </a:rPr>
              <a:t> </a:t>
            </a:r>
            <a:r>
              <a:rPr sz="3200" b="1" spc="-90" dirty="0">
                <a:latin typeface="Times New Roman"/>
                <a:cs typeface="Times New Roman"/>
              </a:rPr>
              <a:t>placed</a:t>
            </a:r>
            <a:r>
              <a:rPr sz="3200" b="1" spc="-16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the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spc="-114" dirty="0">
                <a:latin typeface="Times New Roman"/>
                <a:cs typeface="Times New Roman"/>
              </a:rPr>
              <a:t>highest</a:t>
            </a:r>
            <a:r>
              <a:rPr sz="3200" b="1" spc="-260" dirty="0">
                <a:latin typeface="Times New Roman"/>
                <a:cs typeface="Times New Roman"/>
              </a:rPr>
              <a:t> </a:t>
            </a:r>
            <a:r>
              <a:rPr sz="3200" b="1" spc="-120" dirty="0">
                <a:latin typeface="Times New Roman"/>
                <a:cs typeface="Times New Roman"/>
              </a:rPr>
              <a:t>number</a:t>
            </a:r>
            <a:r>
              <a:rPr sz="3200" b="1" spc="-1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of</a:t>
            </a:r>
            <a:r>
              <a:rPr sz="3200" b="1" spc="-8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orders?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200">
              <a:latin typeface="Times New Roman"/>
              <a:cs typeface="Times New Roman"/>
            </a:endParaRPr>
          </a:p>
          <a:p>
            <a:pPr marR="544830" algn="r">
              <a:lnSpc>
                <a:spcPct val="100000"/>
              </a:lnSpc>
            </a:pPr>
            <a:r>
              <a:rPr sz="2750" b="1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983" y="4428744"/>
            <a:ext cx="4940808" cy="15910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97368" y="5154167"/>
            <a:ext cx="3541776" cy="6278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844" y="250647"/>
            <a:ext cx="8653145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b="1" spc="-25" dirty="0">
                <a:latin typeface="Times New Roman"/>
                <a:cs typeface="Times New Roman"/>
              </a:rPr>
              <a:t>3.What</a:t>
            </a:r>
            <a:r>
              <a:rPr sz="2750" b="1" spc="-24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is</a:t>
            </a:r>
            <a:r>
              <a:rPr sz="2750" b="1" spc="-110" dirty="0">
                <a:latin typeface="Times New Roman"/>
                <a:cs typeface="Times New Roman"/>
              </a:rPr>
              <a:t> </a:t>
            </a:r>
            <a:r>
              <a:rPr sz="2750" b="1" spc="-45" dirty="0">
                <a:latin typeface="Times New Roman"/>
                <a:cs typeface="Times New Roman"/>
              </a:rPr>
              <a:t>the</a:t>
            </a:r>
            <a:r>
              <a:rPr sz="2750" b="1" spc="-125" dirty="0">
                <a:latin typeface="Times New Roman"/>
                <a:cs typeface="Times New Roman"/>
              </a:rPr>
              <a:t> </a:t>
            </a:r>
            <a:r>
              <a:rPr sz="2750" b="1" spc="-105" dirty="0">
                <a:latin typeface="Times New Roman"/>
                <a:cs typeface="Times New Roman"/>
              </a:rPr>
              <a:t>total</a:t>
            </a:r>
            <a:r>
              <a:rPr sz="2750" b="1" spc="-165" dirty="0">
                <a:latin typeface="Times New Roman"/>
                <a:cs typeface="Times New Roman"/>
              </a:rPr>
              <a:t> </a:t>
            </a:r>
            <a:r>
              <a:rPr sz="2750" b="1" spc="-70" dirty="0">
                <a:latin typeface="Times New Roman"/>
                <a:cs typeface="Times New Roman"/>
              </a:rPr>
              <a:t>and</a:t>
            </a:r>
            <a:r>
              <a:rPr sz="2750" b="1" spc="-195" dirty="0">
                <a:latin typeface="Times New Roman"/>
                <a:cs typeface="Times New Roman"/>
              </a:rPr>
              <a:t> </a:t>
            </a:r>
            <a:r>
              <a:rPr sz="2750" b="1" spc="-120" dirty="0">
                <a:latin typeface="Times New Roman"/>
                <a:cs typeface="Times New Roman"/>
              </a:rPr>
              <a:t>average</a:t>
            </a:r>
            <a:r>
              <a:rPr sz="2750" b="1" spc="-195" dirty="0">
                <a:latin typeface="Times New Roman"/>
                <a:cs typeface="Times New Roman"/>
              </a:rPr>
              <a:t> </a:t>
            </a:r>
            <a:r>
              <a:rPr sz="2750" b="1" spc="-95" dirty="0">
                <a:latin typeface="Times New Roman"/>
                <a:cs typeface="Times New Roman"/>
              </a:rPr>
              <a:t>purchase</a:t>
            </a:r>
            <a:r>
              <a:rPr sz="2750" b="1" spc="-190" dirty="0">
                <a:latin typeface="Times New Roman"/>
                <a:cs typeface="Times New Roman"/>
              </a:rPr>
              <a:t> </a:t>
            </a:r>
            <a:r>
              <a:rPr sz="2750" b="1" spc="-85" dirty="0">
                <a:latin typeface="Times New Roman"/>
                <a:cs typeface="Times New Roman"/>
              </a:rPr>
              <a:t>value</a:t>
            </a:r>
            <a:r>
              <a:rPr sz="2750" b="1" spc="-21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per</a:t>
            </a:r>
            <a:r>
              <a:rPr sz="2750" b="1" spc="-50" dirty="0">
                <a:latin typeface="Times New Roman"/>
                <a:cs typeface="Times New Roman"/>
              </a:rPr>
              <a:t> </a:t>
            </a:r>
            <a:r>
              <a:rPr sz="2750" b="1" spc="-10" dirty="0">
                <a:latin typeface="Times New Roman"/>
                <a:cs typeface="Times New Roman"/>
              </a:rPr>
              <a:t>customer?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55" y="2697479"/>
            <a:ext cx="5446776" cy="18653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82256" y="1542288"/>
            <a:ext cx="4151376" cy="4648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78951" y="933653"/>
            <a:ext cx="8312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75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3850" y="774649"/>
            <a:ext cx="7056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4.Who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0" dirty="0">
                <a:latin typeface="Times New Roman"/>
                <a:cs typeface="Times New Roman"/>
              </a:rPr>
              <a:t>are</a:t>
            </a:r>
            <a:r>
              <a:rPr sz="2400" b="1" spc="-1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top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5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95" dirty="0">
                <a:latin typeface="Times New Roman"/>
                <a:cs typeface="Times New Roman"/>
              </a:rPr>
              <a:t>customers</a:t>
            </a:r>
            <a:r>
              <a:rPr sz="2400" b="1" spc="40" dirty="0">
                <a:latin typeface="Times New Roman"/>
                <a:cs typeface="Times New Roman"/>
              </a:rPr>
              <a:t> </a:t>
            </a:r>
            <a:r>
              <a:rPr sz="2400" b="1" spc="-80" dirty="0">
                <a:latin typeface="Times New Roman"/>
                <a:cs typeface="Times New Roman"/>
              </a:rPr>
              <a:t>by</a:t>
            </a:r>
            <a:r>
              <a:rPr sz="2400" b="1" spc="-220" dirty="0">
                <a:latin typeface="Times New Roman"/>
                <a:cs typeface="Times New Roman"/>
              </a:rPr>
              <a:t> </a:t>
            </a:r>
            <a:r>
              <a:rPr sz="2400" b="1" spc="-110" dirty="0">
                <a:latin typeface="Times New Roman"/>
                <a:cs typeface="Times New Roman"/>
              </a:rPr>
              <a:t>total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20" dirty="0">
                <a:latin typeface="Times New Roman"/>
                <a:cs typeface="Times New Roman"/>
              </a:rPr>
              <a:t>purchase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amount?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1311" y="2685288"/>
            <a:ext cx="3980688" cy="1905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58402" y="1927605"/>
            <a:ext cx="970915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b="1" spc="-55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9055" y="2807207"/>
            <a:ext cx="5446776" cy="16428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7695" rIns="0" bIns="0" rtlCol="0">
            <a:spAutoFit/>
          </a:bodyPr>
          <a:lstStyle/>
          <a:p>
            <a:pPr marL="1478915">
              <a:lnSpc>
                <a:spcPct val="100000"/>
              </a:lnSpc>
              <a:spcBef>
                <a:spcPts val="90"/>
              </a:spcBef>
            </a:pPr>
            <a:r>
              <a:rPr sz="3200" b="1" spc="-45" dirty="0">
                <a:latin typeface="Times New Roman"/>
                <a:cs typeface="Times New Roman"/>
              </a:rPr>
              <a:t>5.How</a:t>
            </a:r>
            <a:r>
              <a:rPr sz="3200" b="1" spc="-135" dirty="0">
                <a:latin typeface="Times New Roman"/>
                <a:cs typeface="Times New Roman"/>
              </a:rPr>
              <a:t> </a:t>
            </a:r>
            <a:r>
              <a:rPr sz="3200" b="1" spc="-160" dirty="0">
                <a:latin typeface="Times New Roman"/>
                <a:cs typeface="Times New Roman"/>
              </a:rPr>
              <a:t>many</a:t>
            </a:r>
            <a:r>
              <a:rPr sz="3200" b="1" spc="-195" dirty="0">
                <a:latin typeface="Times New Roman"/>
                <a:cs typeface="Times New Roman"/>
              </a:rPr>
              <a:t> </a:t>
            </a:r>
            <a:r>
              <a:rPr sz="3200" b="1" spc="-114" dirty="0">
                <a:latin typeface="Times New Roman"/>
                <a:cs typeface="Times New Roman"/>
              </a:rPr>
              <a:t>products</a:t>
            </a:r>
            <a:r>
              <a:rPr sz="3200" b="1" spc="-150" dirty="0">
                <a:latin typeface="Times New Roman"/>
                <a:cs typeface="Times New Roman"/>
              </a:rPr>
              <a:t> </a:t>
            </a:r>
            <a:r>
              <a:rPr sz="3200" b="1" spc="-110" dirty="0">
                <a:latin typeface="Times New Roman"/>
                <a:cs typeface="Times New Roman"/>
              </a:rPr>
              <a:t>exist</a:t>
            </a:r>
            <a:r>
              <a:rPr sz="3200" b="1" spc="-185" dirty="0">
                <a:latin typeface="Times New Roman"/>
                <a:cs typeface="Times New Roman"/>
              </a:rPr>
              <a:t> </a:t>
            </a:r>
            <a:r>
              <a:rPr sz="3200" b="1" spc="-45" dirty="0">
                <a:latin typeface="Times New Roman"/>
                <a:cs typeface="Times New Roman"/>
              </a:rPr>
              <a:t>in</a:t>
            </a:r>
            <a:r>
              <a:rPr sz="3200" b="1" spc="-175" dirty="0">
                <a:latin typeface="Times New Roman"/>
                <a:cs typeface="Times New Roman"/>
              </a:rPr>
              <a:t> </a:t>
            </a:r>
            <a:r>
              <a:rPr sz="3200" b="1" spc="-65" dirty="0">
                <a:latin typeface="Times New Roman"/>
                <a:cs typeface="Times New Roman"/>
              </a:rPr>
              <a:t>each</a:t>
            </a:r>
            <a:r>
              <a:rPr sz="3200" b="1" spc="-105" dirty="0">
                <a:latin typeface="Times New Roman"/>
                <a:cs typeface="Times New Roman"/>
              </a:rPr>
              <a:t> </a:t>
            </a:r>
            <a:r>
              <a:rPr sz="3200" b="1" spc="-75" dirty="0">
                <a:latin typeface="Times New Roman"/>
                <a:cs typeface="Times New Roman"/>
              </a:rPr>
              <a:t>category?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4744" y="1240536"/>
            <a:ext cx="5297424" cy="16916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9400" y="4428744"/>
            <a:ext cx="5285232" cy="2020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49139" y="3738829"/>
            <a:ext cx="97155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b="1" spc="-55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7695" rIns="0" bIns="0" rtlCol="0">
            <a:spAutoFit/>
          </a:bodyPr>
          <a:lstStyle/>
          <a:p>
            <a:pPr marL="643255">
              <a:lnSpc>
                <a:spcPct val="100000"/>
              </a:lnSpc>
              <a:spcBef>
                <a:spcPts val="90"/>
              </a:spcBef>
            </a:pPr>
            <a:r>
              <a:rPr sz="3200" b="1" spc="-60" dirty="0">
                <a:latin typeface="Times New Roman"/>
                <a:cs typeface="Times New Roman"/>
              </a:rPr>
              <a:t>6.What</a:t>
            </a:r>
            <a:r>
              <a:rPr sz="3200" b="1" spc="-235" dirty="0">
                <a:latin typeface="Times New Roman"/>
                <a:cs typeface="Times New Roman"/>
              </a:rPr>
              <a:t> </a:t>
            </a:r>
            <a:r>
              <a:rPr sz="3200" b="1" spc="-40" dirty="0">
                <a:latin typeface="Times New Roman"/>
                <a:cs typeface="Times New Roman"/>
              </a:rPr>
              <a:t>is</a:t>
            </a:r>
            <a:r>
              <a:rPr sz="3200" b="1" spc="-140" dirty="0">
                <a:latin typeface="Times New Roman"/>
                <a:cs typeface="Times New Roman"/>
              </a:rPr>
              <a:t> </a:t>
            </a:r>
            <a:r>
              <a:rPr sz="3200" b="1" spc="-80" dirty="0">
                <a:latin typeface="Times New Roman"/>
                <a:cs typeface="Times New Roman"/>
              </a:rPr>
              <a:t>the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spc="-180" dirty="0">
                <a:latin typeface="Times New Roman"/>
                <a:cs typeface="Times New Roman"/>
              </a:rPr>
              <a:t>average</a:t>
            </a:r>
            <a:r>
              <a:rPr sz="3200" b="1" spc="-225" dirty="0">
                <a:latin typeface="Times New Roman"/>
                <a:cs typeface="Times New Roman"/>
              </a:rPr>
              <a:t> </a:t>
            </a:r>
            <a:r>
              <a:rPr sz="3200" b="1" spc="-100" dirty="0">
                <a:latin typeface="Times New Roman"/>
                <a:cs typeface="Times New Roman"/>
              </a:rPr>
              <a:t>price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of</a:t>
            </a:r>
            <a:r>
              <a:rPr sz="3200" b="1" spc="-105" dirty="0">
                <a:latin typeface="Times New Roman"/>
                <a:cs typeface="Times New Roman"/>
              </a:rPr>
              <a:t> </a:t>
            </a:r>
            <a:r>
              <a:rPr sz="3200" b="1" spc="-120" dirty="0">
                <a:latin typeface="Times New Roman"/>
                <a:cs typeface="Times New Roman"/>
              </a:rPr>
              <a:t>products</a:t>
            </a:r>
            <a:r>
              <a:rPr sz="3200" b="1" spc="-165" dirty="0">
                <a:latin typeface="Times New Roman"/>
                <a:cs typeface="Times New Roman"/>
              </a:rPr>
              <a:t> </a:t>
            </a:r>
            <a:r>
              <a:rPr sz="3200" b="1" spc="-120" dirty="0">
                <a:latin typeface="Times New Roman"/>
                <a:cs typeface="Times New Roman"/>
              </a:rPr>
              <a:t>by</a:t>
            </a:r>
            <a:r>
              <a:rPr sz="3200" b="1" spc="-240" dirty="0">
                <a:latin typeface="Times New Roman"/>
                <a:cs typeface="Times New Roman"/>
              </a:rPr>
              <a:t> </a:t>
            </a:r>
            <a:r>
              <a:rPr sz="3200" b="1" spc="-95" dirty="0">
                <a:latin typeface="Times New Roman"/>
                <a:cs typeface="Times New Roman"/>
              </a:rPr>
              <a:t>category?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6167" y="1252727"/>
            <a:ext cx="6912864" cy="16459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7455" y="4498847"/>
            <a:ext cx="4590288" cy="20787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49546" y="3847922"/>
            <a:ext cx="97155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b="1" spc="-55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7695" rIns="0" bIns="0" rtlCol="0">
            <a:spAutoFit/>
          </a:bodyPr>
          <a:lstStyle/>
          <a:p>
            <a:pPr marL="18415" marR="5080">
              <a:lnSpc>
                <a:spcPct val="100000"/>
              </a:lnSpc>
              <a:spcBef>
                <a:spcPts val="90"/>
              </a:spcBef>
            </a:pPr>
            <a:r>
              <a:rPr sz="3200" b="1" dirty="0">
                <a:latin typeface="Times New Roman"/>
                <a:cs typeface="Times New Roman"/>
              </a:rPr>
              <a:t>7.Which</a:t>
            </a:r>
            <a:r>
              <a:rPr sz="3200" b="1" spc="-2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products</a:t>
            </a:r>
            <a:r>
              <a:rPr sz="3200" b="1" spc="-125" dirty="0">
                <a:latin typeface="Times New Roman"/>
                <a:cs typeface="Times New Roman"/>
              </a:rPr>
              <a:t> </a:t>
            </a:r>
            <a:r>
              <a:rPr sz="3200" b="1" spc="-45" dirty="0">
                <a:latin typeface="Times New Roman"/>
                <a:cs typeface="Times New Roman"/>
              </a:rPr>
              <a:t>have</a:t>
            </a:r>
            <a:r>
              <a:rPr sz="3200" b="1" spc="-1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145" dirty="0">
                <a:latin typeface="Times New Roman"/>
                <a:cs typeface="Times New Roman"/>
              </a:rPr>
              <a:t> </a:t>
            </a:r>
            <a:r>
              <a:rPr sz="3200" b="1" spc="-40" dirty="0">
                <a:latin typeface="Times New Roman"/>
                <a:cs typeface="Times New Roman"/>
              </a:rPr>
              <a:t>highest</a:t>
            </a:r>
            <a:r>
              <a:rPr sz="3200" b="1" spc="-14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total</a:t>
            </a:r>
            <a:r>
              <a:rPr sz="3200" b="1" spc="-180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sales</a:t>
            </a:r>
            <a:r>
              <a:rPr sz="3200" b="1" spc="-170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volume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(by </a:t>
            </a:r>
            <a:r>
              <a:rPr sz="3200" b="1" spc="-10" dirty="0">
                <a:latin typeface="Times New Roman"/>
                <a:cs typeface="Times New Roman"/>
              </a:rPr>
              <a:t>quantity)?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0232" y="4733544"/>
            <a:ext cx="4343400" cy="10088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99405" y="3875023"/>
            <a:ext cx="92075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2200" y="1804416"/>
            <a:ext cx="6306311" cy="16428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23544" rIns="0" bIns="0" rtlCol="0">
            <a:spAutoFit/>
          </a:bodyPr>
          <a:lstStyle/>
          <a:p>
            <a:pPr marL="643255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8.What</a:t>
            </a:r>
            <a:r>
              <a:rPr sz="3200" b="1" spc="-1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is</a:t>
            </a:r>
            <a:r>
              <a:rPr sz="3200" b="1" spc="-1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12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total</a:t>
            </a:r>
            <a:r>
              <a:rPr sz="3200" b="1" spc="-1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revenue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generated</a:t>
            </a:r>
            <a:r>
              <a:rPr sz="3200" b="1" spc="-175" dirty="0">
                <a:latin typeface="Times New Roman"/>
                <a:cs typeface="Times New Roman"/>
              </a:rPr>
              <a:t> </a:t>
            </a:r>
            <a:r>
              <a:rPr sz="3200" b="1" spc="-70" dirty="0">
                <a:latin typeface="Times New Roman"/>
                <a:cs typeface="Times New Roman"/>
              </a:rPr>
              <a:t>by</a:t>
            </a:r>
            <a:r>
              <a:rPr sz="3200" b="1" spc="-1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each</a:t>
            </a:r>
            <a:r>
              <a:rPr sz="3200" b="1" spc="-11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product?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0078" y="3440379"/>
            <a:ext cx="922019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286000" y="1456944"/>
            <a:ext cx="6022975" cy="1972310"/>
            <a:chOff x="2286000" y="1456944"/>
            <a:chExt cx="6022975" cy="19723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5768" y="1533144"/>
              <a:ext cx="5029200" cy="15422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000" y="1456944"/>
              <a:ext cx="6022848" cy="1972055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8BC32A3-BD7F-8AD3-98E8-0EF49CFE1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3936765"/>
            <a:ext cx="3543795" cy="14765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2838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90"/>
              </a:spcBef>
            </a:pPr>
            <a:r>
              <a:rPr sz="3200" b="1" dirty="0">
                <a:latin typeface="Times New Roman"/>
                <a:cs typeface="Times New Roman"/>
              </a:rPr>
              <a:t>9.How</a:t>
            </a:r>
            <a:r>
              <a:rPr sz="3200" b="1" spc="-1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do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product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spc="-55" dirty="0">
                <a:latin typeface="Times New Roman"/>
                <a:cs typeface="Times New Roman"/>
              </a:rPr>
              <a:t>sales</a:t>
            </a:r>
            <a:r>
              <a:rPr sz="3200" b="1" spc="-150" dirty="0">
                <a:latin typeface="Times New Roman"/>
                <a:cs typeface="Times New Roman"/>
              </a:rPr>
              <a:t> </a:t>
            </a:r>
            <a:r>
              <a:rPr sz="3200" b="1" spc="-125" dirty="0">
                <a:latin typeface="Times New Roman"/>
                <a:cs typeface="Times New Roman"/>
              </a:rPr>
              <a:t>vary</a:t>
            </a:r>
            <a:r>
              <a:rPr sz="3200" b="1" spc="-2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by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spc="-90" dirty="0">
                <a:latin typeface="Times New Roman"/>
                <a:cs typeface="Times New Roman"/>
              </a:rPr>
              <a:t>category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-10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supplier?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4641" y="3798189"/>
            <a:ext cx="92075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10" dirty="0">
                <a:latin typeface="Times New Roman"/>
                <a:cs typeface="Times New Roman"/>
              </a:rPr>
              <a:t>0utput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232" y="4401311"/>
            <a:ext cx="4410456" cy="23042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6288" y="1932432"/>
            <a:ext cx="434340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90" rIns="0" bIns="0" rtlCol="0">
            <a:spAutoFit/>
          </a:bodyPr>
          <a:lstStyle/>
          <a:p>
            <a:pPr marL="1646555">
              <a:lnSpc>
                <a:spcPct val="100000"/>
              </a:lnSpc>
              <a:spcBef>
                <a:spcPts val="90"/>
              </a:spcBef>
            </a:pPr>
            <a:r>
              <a:rPr sz="3200" b="1" dirty="0">
                <a:latin typeface="Times New Roman"/>
                <a:cs typeface="Times New Roman"/>
              </a:rPr>
              <a:t>10.How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many</a:t>
            </a:r>
            <a:r>
              <a:rPr sz="3200" b="1" spc="-1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orders</a:t>
            </a:r>
            <a:r>
              <a:rPr sz="3200" b="1" spc="-125" dirty="0">
                <a:latin typeface="Times New Roman"/>
                <a:cs typeface="Times New Roman"/>
              </a:rPr>
              <a:t> </a:t>
            </a:r>
            <a:r>
              <a:rPr sz="3200" b="1" spc="-30" dirty="0">
                <a:latin typeface="Times New Roman"/>
                <a:cs typeface="Times New Roman"/>
              </a:rPr>
              <a:t>have</a:t>
            </a:r>
            <a:r>
              <a:rPr sz="3200" b="1" spc="-1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been</a:t>
            </a:r>
            <a:r>
              <a:rPr sz="3200" b="1" spc="-1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placed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in</a:t>
            </a:r>
            <a:r>
              <a:rPr sz="3200" b="1" spc="-18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total?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29764" y="1971802"/>
            <a:ext cx="5629910" cy="214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85090">
              <a:lnSpc>
                <a:spcPct val="100000"/>
              </a:lnSpc>
            </a:pPr>
            <a:r>
              <a:rPr sz="3200" b="1" dirty="0">
                <a:latin typeface="Times New Roman"/>
                <a:cs typeface="Times New Roman"/>
              </a:rPr>
              <a:t>11.What</a:t>
            </a:r>
            <a:r>
              <a:rPr sz="3200" b="1" spc="-8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is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85" dirty="0">
                <a:latin typeface="Times New Roman"/>
                <a:cs typeface="Times New Roman"/>
              </a:rPr>
              <a:t> </a:t>
            </a:r>
            <a:r>
              <a:rPr sz="3200" b="1" spc="-95" dirty="0">
                <a:latin typeface="Times New Roman"/>
                <a:cs typeface="Times New Roman"/>
              </a:rPr>
              <a:t>average</a:t>
            </a:r>
            <a:r>
              <a:rPr sz="3200" b="1" spc="-105" dirty="0">
                <a:latin typeface="Times New Roman"/>
                <a:cs typeface="Times New Roman"/>
              </a:rPr>
              <a:t> </a:t>
            </a:r>
            <a:r>
              <a:rPr sz="3200" b="1" spc="-65" dirty="0">
                <a:latin typeface="Times New Roman"/>
                <a:cs typeface="Times New Roman"/>
              </a:rPr>
              <a:t>value</a:t>
            </a:r>
            <a:r>
              <a:rPr sz="3200" b="1" spc="-135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per </a:t>
            </a:r>
            <a:r>
              <a:rPr sz="3200" b="1" spc="-10" dirty="0">
                <a:latin typeface="Times New Roman"/>
                <a:cs typeface="Times New Roman"/>
              </a:rPr>
              <a:t>order?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1168" y="2429255"/>
            <a:ext cx="1408176" cy="609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0608" y="3858767"/>
            <a:ext cx="2596895" cy="15422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43042" y="5518505"/>
            <a:ext cx="92075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1511" y="6123432"/>
            <a:ext cx="1533143" cy="5913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09800" y="1819944"/>
            <a:ext cx="434340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047" rIns="0" bIns="0" rtlCol="0">
            <a:spAutoFit/>
          </a:bodyPr>
          <a:lstStyle/>
          <a:p>
            <a:pPr marL="1387475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12.On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-65" dirty="0">
                <a:latin typeface="Times New Roman"/>
                <a:cs typeface="Times New Roman"/>
              </a:rPr>
              <a:t>which</a:t>
            </a:r>
            <a:r>
              <a:rPr sz="3200" b="1" spc="-1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dates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b="1" spc="-45" dirty="0">
                <a:latin typeface="Times New Roman"/>
                <a:cs typeface="Times New Roman"/>
              </a:rPr>
              <a:t>were</a:t>
            </a:r>
            <a:r>
              <a:rPr sz="3200" b="1" spc="-1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1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most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orders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placed?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3098" y="1580636"/>
            <a:ext cx="4657344" cy="15148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0623" y="2514600"/>
            <a:ext cx="1990344" cy="5608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91792" y="2004821"/>
            <a:ext cx="8013065" cy="1983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090930" algn="r">
              <a:lnSpc>
                <a:spcPct val="100000"/>
              </a:lnSpc>
              <a:spcBef>
                <a:spcPts val="110"/>
              </a:spcBef>
            </a:pPr>
            <a:r>
              <a:rPr sz="2750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10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 marR="5080">
              <a:lnSpc>
                <a:spcPct val="100400"/>
              </a:lnSpc>
            </a:pPr>
            <a:r>
              <a:rPr sz="2750" b="1" dirty="0">
                <a:latin typeface="Times New Roman"/>
                <a:cs typeface="Times New Roman"/>
              </a:rPr>
              <a:t>13.What</a:t>
            </a:r>
            <a:r>
              <a:rPr sz="2750" b="1" spc="6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are</a:t>
            </a:r>
            <a:r>
              <a:rPr sz="2750" b="1" spc="4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the</a:t>
            </a:r>
            <a:r>
              <a:rPr sz="2750" b="1" spc="6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monthly</a:t>
            </a:r>
            <a:r>
              <a:rPr sz="2750" b="1" spc="-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trends</a:t>
            </a:r>
            <a:r>
              <a:rPr sz="2750" b="1" spc="10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in</a:t>
            </a:r>
            <a:r>
              <a:rPr sz="2750" b="1" spc="95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order</a:t>
            </a:r>
            <a:r>
              <a:rPr sz="2750" b="1" spc="9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volume</a:t>
            </a:r>
            <a:r>
              <a:rPr sz="2750" b="1" spc="25" dirty="0">
                <a:latin typeface="Times New Roman"/>
                <a:cs typeface="Times New Roman"/>
              </a:rPr>
              <a:t> </a:t>
            </a:r>
            <a:r>
              <a:rPr sz="2750" b="1" spc="-25" dirty="0">
                <a:latin typeface="Times New Roman"/>
                <a:cs typeface="Times New Roman"/>
              </a:rPr>
              <a:t>and </a:t>
            </a:r>
            <a:r>
              <a:rPr sz="2750" b="1" spc="-10" dirty="0">
                <a:latin typeface="Times New Roman"/>
                <a:cs typeface="Times New Roman"/>
              </a:rPr>
              <a:t>revenue?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53511" y="3755135"/>
            <a:ext cx="5434584" cy="1828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92370" y="5481624"/>
            <a:ext cx="92075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69279" y="6105144"/>
            <a:ext cx="2941320" cy="58216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58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1" dirty="0">
                <a:latin typeface="Times New Roman"/>
                <a:cs typeface="Times New Roman"/>
              </a:rPr>
              <a:t>14.How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do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order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patterns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spc="-125" dirty="0">
                <a:latin typeface="Times New Roman"/>
                <a:cs typeface="Times New Roman"/>
              </a:rPr>
              <a:t>vary</a:t>
            </a:r>
            <a:r>
              <a:rPr sz="3200" b="1" spc="-21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across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spc="-95" dirty="0">
                <a:latin typeface="Times New Roman"/>
                <a:cs typeface="Times New Roman"/>
              </a:rPr>
              <a:t>weekdays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-8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months?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688" y="1152144"/>
            <a:ext cx="5830823" cy="25816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50078" y="4021658"/>
            <a:ext cx="922019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4800600"/>
            <a:ext cx="2877311" cy="5425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972" rIns="0" bIns="0" rtlCol="0">
            <a:spAutoFit/>
          </a:bodyPr>
          <a:lstStyle/>
          <a:p>
            <a:pPr marL="1265555">
              <a:lnSpc>
                <a:spcPct val="100000"/>
              </a:lnSpc>
              <a:spcBef>
                <a:spcPts val="90"/>
              </a:spcBef>
            </a:pPr>
            <a:r>
              <a:rPr sz="3200" b="1" dirty="0">
                <a:latin typeface="Times New Roman"/>
                <a:cs typeface="Times New Roman"/>
              </a:rPr>
              <a:t>15.How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many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suppliers</a:t>
            </a:r>
            <a:r>
              <a:rPr sz="3200" b="1" spc="-1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are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there</a:t>
            </a:r>
            <a:r>
              <a:rPr sz="3200" b="1" spc="-1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in</a:t>
            </a:r>
            <a:r>
              <a:rPr sz="3200" b="1" spc="-10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10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database?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1593513"/>
            <a:ext cx="2849880" cy="8046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0" y="2142744"/>
            <a:ext cx="1438655" cy="50596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47825" y="1540840"/>
            <a:ext cx="6342380" cy="2284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296285">
              <a:lnSpc>
                <a:spcPct val="100000"/>
              </a:lnSpc>
              <a:spcBef>
                <a:spcPts val="110"/>
              </a:spcBef>
            </a:pPr>
            <a:r>
              <a:rPr sz="2750" b="1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3200" b="1" dirty="0">
                <a:latin typeface="Times New Roman"/>
                <a:cs typeface="Times New Roman"/>
              </a:rPr>
              <a:t>16.Which</a:t>
            </a:r>
            <a:r>
              <a:rPr sz="3200" b="1" spc="-1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supplier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provides</a:t>
            </a:r>
            <a:r>
              <a:rPr sz="3200" b="1" spc="-1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most </a:t>
            </a:r>
            <a:r>
              <a:rPr sz="3200" b="1" spc="-10" dirty="0">
                <a:latin typeface="Times New Roman"/>
                <a:cs typeface="Times New Roman"/>
              </a:rPr>
              <a:t>products?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7600" y="3508247"/>
            <a:ext cx="3425952" cy="1447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04991" y="5074107"/>
            <a:ext cx="997585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10" dirty="0">
                <a:latin typeface="Arial MT"/>
                <a:cs typeface="Arial MT"/>
              </a:rPr>
              <a:t>output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71488" y="5687567"/>
            <a:ext cx="1505711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240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90"/>
              </a:spcBef>
            </a:pPr>
            <a:r>
              <a:rPr sz="3200" b="1" dirty="0">
                <a:latin typeface="Times New Roman"/>
                <a:cs typeface="Times New Roman"/>
              </a:rPr>
              <a:t>17.What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is</a:t>
            </a:r>
            <a:r>
              <a:rPr sz="3200" b="1" spc="-1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spc="-90" dirty="0">
                <a:latin typeface="Times New Roman"/>
                <a:cs typeface="Times New Roman"/>
              </a:rPr>
              <a:t>average</a:t>
            </a:r>
            <a:r>
              <a:rPr sz="3200" b="1" spc="-1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price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of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products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from</a:t>
            </a:r>
            <a:r>
              <a:rPr sz="3200" b="1" spc="-8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each</a:t>
            </a:r>
            <a:r>
              <a:rPr sz="3200" b="1" spc="-6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supplier?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903188"/>
            <a:ext cx="4526280" cy="9448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48043" y="1620139"/>
            <a:ext cx="92075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5368" y="2133600"/>
            <a:ext cx="2124455" cy="13624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2744" y="4401311"/>
            <a:ext cx="4849367" cy="14295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10844" y="3401059"/>
            <a:ext cx="9596120" cy="13119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3479"/>
              </a:lnSpc>
              <a:spcBef>
                <a:spcPts val="505"/>
              </a:spcBef>
            </a:pPr>
            <a:r>
              <a:rPr sz="3200" b="1" dirty="0">
                <a:latin typeface="Times New Roman"/>
                <a:cs typeface="Times New Roman"/>
              </a:rPr>
              <a:t>18.Which</a:t>
            </a:r>
            <a:r>
              <a:rPr sz="3200" b="1" spc="-1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suppliers</a:t>
            </a:r>
            <a:r>
              <a:rPr sz="3200" b="1" spc="-1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contribute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1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most</a:t>
            </a:r>
            <a:r>
              <a:rPr sz="3200" b="1" spc="-1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total</a:t>
            </a:r>
            <a:r>
              <a:rPr sz="3200" b="1" spc="-16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product </a:t>
            </a:r>
            <a:r>
              <a:rPr sz="3200" b="1" spc="-45" dirty="0">
                <a:latin typeface="Times New Roman"/>
                <a:cs typeface="Times New Roman"/>
              </a:rPr>
              <a:t>sales</a:t>
            </a:r>
            <a:r>
              <a:rPr sz="3200" b="1" spc="-1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(by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revenue)</a:t>
            </a:r>
            <a:endParaRPr sz="3200">
              <a:latin typeface="Times New Roman"/>
              <a:cs typeface="Times New Roman"/>
            </a:endParaRPr>
          </a:p>
          <a:p>
            <a:pPr marL="6847840">
              <a:lnSpc>
                <a:spcPts val="2760"/>
              </a:lnSpc>
            </a:pPr>
            <a:r>
              <a:rPr sz="2750" b="1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59623" y="4818888"/>
            <a:ext cx="4380230" cy="2039620"/>
            <a:chOff x="7659623" y="4818888"/>
            <a:chExt cx="4380230" cy="203962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59623" y="4818888"/>
              <a:ext cx="2133600" cy="13533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11767" y="6181343"/>
              <a:ext cx="3227831" cy="676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31314">
              <a:lnSpc>
                <a:spcPct val="100000"/>
              </a:lnSpc>
              <a:spcBef>
                <a:spcPts val="90"/>
              </a:spcBef>
            </a:pPr>
            <a:r>
              <a:rPr sz="3200" b="1" spc="-10" dirty="0">
                <a:latin typeface="Times New Roman"/>
                <a:cs typeface="Times New Roman"/>
              </a:rPr>
              <a:t>19.How</a:t>
            </a:r>
            <a:r>
              <a:rPr sz="3200" b="1" spc="-175" dirty="0">
                <a:latin typeface="Times New Roman"/>
                <a:cs typeface="Times New Roman"/>
              </a:rPr>
              <a:t> </a:t>
            </a:r>
            <a:r>
              <a:rPr sz="3200" b="1" spc="-30" dirty="0">
                <a:latin typeface="Times New Roman"/>
                <a:cs typeface="Times New Roman"/>
              </a:rPr>
              <a:t>many</a:t>
            </a:r>
            <a:r>
              <a:rPr sz="3200" b="1" spc="-160" dirty="0">
                <a:latin typeface="Times New Roman"/>
                <a:cs typeface="Times New Roman"/>
              </a:rPr>
              <a:t> </a:t>
            </a:r>
            <a:r>
              <a:rPr sz="3200" b="1" spc="-40" dirty="0">
                <a:latin typeface="Times New Roman"/>
                <a:cs typeface="Times New Roman"/>
              </a:rPr>
              <a:t>employees</a:t>
            </a:r>
            <a:r>
              <a:rPr sz="3200" b="1" spc="-155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have</a:t>
            </a:r>
            <a:r>
              <a:rPr sz="3200" b="1" spc="-204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processed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orders?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1292924"/>
            <a:ext cx="4230624" cy="5791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3023" y="1953767"/>
            <a:ext cx="1740407" cy="551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72967" y="3447288"/>
            <a:ext cx="3810000" cy="12405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74419" y="1456131"/>
            <a:ext cx="7654290" cy="300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666115" algn="ctr">
              <a:lnSpc>
                <a:spcPct val="100000"/>
              </a:lnSpc>
              <a:spcBef>
                <a:spcPts val="110"/>
              </a:spcBef>
            </a:pPr>
            <a:r>
              <a:rPr sz="2750" b="1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 marR="158115">
              <a:lnSpc>
                <a:spcPct val="100000"/>
              </a:lnSpc>
            </a:pPr>
            <a:r>
              <a:rPr sz="3200" b="1" dirty="0">
                <a:latin typeface="Times New Roman"/>
                <a:cs typeface="Times New Roman"/>
              </a:rPr>
              <a:t>20.Which</a:t>
            </a:r>
            <a:r>
              <a:rPr sz="3200" b="1" spc="-110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employees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have</a:t>
            </a:r>
            <a:r>
              <a:rPr sz="3200" b="1" spc="-1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handled</a:t>
            </a:r>
            <a:r>
              <a:rPr sz="3200" b="1" spc="-1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130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most </a:t>
            </a:r>
            <a:r>
              <a:rPr sz="3200" b="1" spc="-10" dirty="0">
                <a:latin typeface="Times New Roman"/>
                <a:cs typeface="Times New Roman"/>
              </a:rPr>
              <a:t>orders?</a:t>
            </a:r>
            <a:endParaRPr sz="32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110"/>
              </a:spcBef>
            </a:pPr>
            <a:r>
              <a:rPr sz="2750" b="1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05800" y="4492750"/>
            <a:ext cx="2456688" cy="2255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993" y="1028776"/>
            <a:ext cx="81978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0" dirty="0">
                <a:latin typeface="Times New Roman"/>
                <a:cs typeface="Times New Roman"/>
              </a:rPr>
              <a:t>output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838" y="283286"/>
            <a:ext cx="102762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21.What</a:t>
            </a:r>
            <a:r>
              <a:rPr sz="3200" b="1" spc="-19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is</a:t>
            </a:r>
            <a:r>
              <a:rPr sz="3200" b="1" spc="-1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total</a:t>
            </a:r>
            <a:r>
              <a:rPr sz="3200" b="1" spc="-175" dirty="0">
                <a:latin typeface="Times New Roman"/>
                <a:cs typeface="Times New Roman"/>
              </a:rPr>
              <a:t> </a:t>
            </a:r>
            <a:r>
              <a:rPr sz="3200" b="1" spc="-55" dirty="0">
                <a:latin typeface="Times New Roman"/>
                <a:cs typeface="Times New Roman"/>
              </a:rPr>
              <a:t>sales</a:t>
            </a:r>
            <a:r>
              <a:rPr sz="3200" b="1" spc="-145" dirty="0">
                <a:latin typeface="Times New Roman"/>
                <a:cs typeface="Times New Roman"/>
              </a:rPr>
              <a:t> </a:t>
            </a:r>
            <a:r>
              <a:rPr sz="3200" b="1" spc="-70" dirty="0">
                <a:latin typeface="Times New Roman"/>
                <a:cs typeface="Times New Roman"/>
              </a:rPr>
              <a:t>value</a:t>
            </a:r>
            <a:r>
              <a:rPr sz="3200" b="1" spc="-1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processed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b="1" spc="-30" dirty="0">
                <a:latin typeface="Times New Roman"/>
                <a:cs typeface="Times New Roman"/>
              </a:rPr>
              <a:t>by</a:t>
            </a:r>
            <a:r>
              <a:rPr sz="3200" b="1" spc="-1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each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employee?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1313688"/>
            <a:ext cx="5221224" cy="16855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5943" y="1475232"/>
            <a:ext cx="2209800" cy="18501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16316" y="1028826"/>
            <a:ext cx="81915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10" dirty="0">
                <a:latin typeface="Times New Roman"/>
                <a:cs typeface="Times New Roman"/>
              </a:rPr>
              <a:t>output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0539" y="147015"/>
            <a:ext cx="101022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22.What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is</a:t>
            </a:r>
            <a:r>
              <a:rPr sz="3200" b="1" spc="-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spc="-85" dirty="0">
                <a:latin typeface="Times New Roman"/>
                <a:cs typeface="Times New Roman"/>
              </a:rPr>
              <a:t>average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order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spc="-40" dirty="0">
                <a:latin typeface="Times New Roman"/>
                <a:cs typeface="Times New Roman"/>
              </a:rPr>
              <a:t>value</a:t>
            </a:r>
            <a:r>
              <a:rPr sz="3200" b="1" spc="-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handled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per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employee?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511" y="771144"/>
            <a:ext cx="5608320" cy="21640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2856" y="1496567"/>
            <a:ext cx="2542031" cy="23408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5767" y="4629911"/>
            <a:ext cx="2523744" cy="6370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5455" y="5020055"/>
            <a:ext cx="1761744" cy="168554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23085" y="3933540"/>
            <a:ext cx="7480934" cy="9626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000" b="1" dirty="0">
                <a:latin typeface="Times New Roman"/>
                <a:cs typeface="Times New Roman"/>
              </a:rPr>
              <a:t>23.What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relationship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between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quantity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ordered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total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price?</a:t>
            </a:r>
            <a:endParaRPr sz="2000">
              <a:latin typeface="Times New Roman"/>
              <a:cs typeface="Times New Roman"/>
            </a:endParaRPr>
          </a:p>
          <a:p>
            <a:pPr marL="4164965">
              <a:lnSpc>
                <a:spcPct val="100000"/>
              </a:lnSpc>
              <a:spcBef>
                <a:spcPts val="980"/>
              </a:spcBef>
            </a:pPr>
            <a:r>
              <a:rPr sz="2750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24180" rIns="0" bIns="0" rtlCol="0">
            <a:spAutoFit/>
          </a:bodyPr>
          <a:lstStyle/>
          <a:p>
            <a:pPr marL="414655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24.What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is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90" dirty="0">
                <a:latin typeface="Times New Roman"/>
                <a:cs typeface="Times New Roman"/>
              </a:rPr>
              <a:t> average</a:t>
            </a:r>
            <a:r>
              <a:rPr sz="3200" b="1" spc="-110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quantity </a:t>
            </a:r>
            <a:r>
              <a:rPr sz="3200" b="1" dirty="0">
                <a:latin typeface="Times New Roman"/>
                <a:cs typeface="Times New Roman"/>
              </a:rPr>
              <a:t>ordered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per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product?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6509" y="3083814"/>
            <a:ext cx="922019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10" dirty="0">
                <a:latin typeface="Times New Roman"/>
                <a:cs typeface="Times New Roman"/>
              </a:rPr>
              <a:t>output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2888" y="1389888"/>
            <a:ext cx="4821936" cy="13624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6367" y="3733800"/>
            <a:ext cx="2093976" cy="22677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3845" y="3583381"/>
            <a:ext cx="106743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latin typeface="Times New Roman"/>
                <a:cs typeface="Times New Roman"/>
              </a:rPr>
              <a:t>0utput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350342"/>
            <a:ext cx="970788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Times New Roman"/>
                <a:cs typeface="Times New Roman"/>
              </a:rPr>
              <a:t>25.How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does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unit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price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vary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across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products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orders?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7855" y="1286255"/>
            <a:ext cx="4163568" cy="21427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8855" y="4191000"/>
            <a:ext cx="3782568" cy="23134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FD1829-82B9-A950-FBD7-4177864DA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87000" cy="1008244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 </a:t>
            </a:r>
            <a:r>
              <a:rPr lang="en-IN" b="1" dirty="0">
                <a:solidFill>
                  <a:srgbClr val="C00000"/>
                </a:solidFill>
                <a:latin typeface="+mn-lt"/>
              </a:rPr>
              <a:t>CHALLENGES</a:t>
            </a:r>
            <a:endParaRPr lang="en-IN" b="1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373370"/>
            <a:ext cx="10134600" cy="44460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  <a:tabLst>
                <a:tab pos="356235" algn="l"/>
              </a:tabLst>
            </a:pPr>
            <a:r>
              <a:rPr sz="2400" dirty="0">
                <a:cs typeface="Times New Roman"/>
              </a:rPr>
              <a:t>Understanding</a:t>
            </a:r>
            <a:r>
              <a:rPr sz="2400" spc="-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and</a:t>
            </a:r>
            <a:r>
              <a:rPr sz="2400" spc="-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mapping</a:t>
            </a:r>
            <a:r>
              <a:rPr sz="2400" spc="-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relationships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between</a:t>
            </a:r>
            <a:r>
              <a:rPr sz="2400" spc="-5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multiple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interconnected</a:t>
            </a:r>
            <a:endParaRPr sz="2400" dirty="0"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sz="2400" spc="-10" dirty="0">
                <a:cs typeface="Times New Roman"/>
              </a:rPr>
              <a:t>tables.</a:t>
            </a:r>
            <a:endParaRPr sz="2400" dirty="0">
              <a:cs typeface="Times New Roman"/>
            </a:endParaRPr>
          </a:p>
          <a:p>
            <a:pPr marL="356235" indent="-34353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56235" algn="l"/>
              </a:tabLst>
            </a:pPr>
            <a:r>
              <a:rPr sz="2400" dirty="0">
                <a:cs typeface="Times New Roman"/>
              </a:rPr>
              <a:t>Choosing</a:t>
            </a:r>
            <a:r>
              <a:rPr sz="2400" spc="-7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-4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correct</a:t>
            </a:r>
            <a:r>
              <a:rPr sz="2400" spc="-7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SQL joins</a:t>
            </a:r>
            <a:r>
              <a:rPr sz="2400" spc="-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(INNER,</a:t>
            </a:r>
            <a:r>
              <a:rPr sz="2400" spc="2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LEFT,</a:t>
            </a:r>
            <a:r>
              <a:rPr sz="2400" spc="-4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RIGHT)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to</a:t>
            </a:r>
            <a:r>
              <a:rPr sz="2400" spc="-4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avoid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missing</a:t>
            </a:r>
            <a:r>
              <a:rPr sz="2400" spc="-4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or</a:t>
            </a:r>
            <a:endParaRPr sz="2400" dirty="0"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cs typeface="Times New Roman"/>
              </a:rPr>
              <a:t>duplicated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data.</a:t>
            </a:r>
            <a:endParaRPr sz="2400" dirty="0">
              <a:cs typeface="Times New Roman"/>
            </a:endParaRPr>
          </a:p>
          <a:p>
            <a:pPr marL="356235" indent="-34353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56235" algn="l"/>
              </a:tabLst>
            </a:pPr>
            <a:r>
              <a:rPr sz="2400" dirty="0">
                <a:cs typeface="Times New Roman"/>
              </a:rPr>
              <a:t>Managing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foreign</a:t>
            </a:r>
            <a:r>
              <a:rPr sz="2400" spc="-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key</a:t>
            </a:r>
            <a:r>
              <a:rPr sz="2400" spc="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constraints</a:t>
            </a:r>
            <a:r>
              <a:rPr sz="2400" spc="-10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to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maintain</a:t>
            </a:r>
            <a:r>
              <a:rPr sz="2400" spc="-5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data</a:t>
            </a:r>
            <a:r>
              <a:rPr sz="2400" spc="-3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consistency</a:t>
            </a:r>
            <a:r>
              <a:rPr sz="2400" spc="-7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across</a:t>
            </a:r>
            <a:r>
              <a:rPr sz="2400" spc="-8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suppliers,</a:t>
            </a:r>
            <a:endParaRPr sz="2400" dirty="0"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sz="2400" dirty="0">
                <a:cs typeface="Times New Roman"/>
              </a:rPr>
              <a:t>products,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orders,</a:t>
            </a:r>
            <a:r>
              <a:rPr sz="2400" spc="-3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and</a:t>
            </a:r>
            <a:r>
              <a:rPr sz="2400" spc="1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customers.</a:t>
            </a:r>
            <a:endParaRPr sz="2400" dirty="0">
              <a:cs typeface="Times New Roman"/>
            </a:endParaRPr>
          </a:p>
          <a:p>
            <a:pPr marL="356235" indent="-34353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56235" algn="l"/>
              </a:tabLst>
            </a:pPr>
            <a:r>
              <a:rPr sz="2400" dirty="0">
                <a:cs typeface="Times New Roman"/>
              </a:rPr>
              <a:t>Performing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accurate</a:t>
            </a:r>
            <a:r>
              <a:rPr sz="2400" spc="-9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aggregations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(SUM,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AVG,</a:t>
            </a:r>
            <a:r>
              <a:rPr sz="2400" spc="-2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COUNT)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when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working</a:t>
            </a:r>
            <a:r>
              <a:rPr sz="2400" spc="-30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with</a:t>
            </a:r>
            <a:endParaRPr sz="2400" dirty="0"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cs typeface="Times New Roman"/>
              </a:rPr>
              <a:t>joined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tables</a:t>
            </a:r>
            <a:r>
              <a:rPr sz="2400" spc="-3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to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avoid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incorrect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totals.</a:t>
            </a:r>
            <a:endParaRPr sz="2400" dirty="0">
              <a:cs typeface="Times New Roman"/>
            </a:endParaRPr>
          </a:p>
          <a:p>
            <a:pPr marL="355600" marR="384810" indent="-343535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356870" algn="l"/>
              </a:tabLst>
            </a:pPr>
            <a:r>
              <a:rPr sz="2400" dirty="0">
                <a:cs typeface="Times New Roman"/>
              </a:rPr>
              <a:t>Ensuring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correct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grouping</a:t>
            </a:r>
            <a:r>
              <a:rPr sz="2400" spc="-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to</a:t>
            </a:r>
            <a:r>
              <a:rPr sz="2400" spc="-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compute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metrics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like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revenue,</a:t>
            </a:r>
            <a:r>
              <a:rPr sz="2400" spc="-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order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value,</a:t>
            </a:r>
            <a:r>
              <a:rPr sz="2400" spc="-1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and 	</a:t>
            </a:r>
            <a:r>
              <a:rPr sz="2400" dirty="0">
                <a:cs typeface="Times New Roman"/>
              </a:rPr>
              <a:t>sales</a:t>
            </a:r>
            <a:r>
              <a:rPr sz="2400" spc="-5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volume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without</a:t>
            </a:r>
            <a:r>
              <a:rPr sz="2400" spc="-2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errors.</a:t>
            </a:r>
            <a:endParaRPr sz="2400" dirty="0">
              <a:cs typeface="Times New Roman"/>
            </a:endParaRPr>
          </a:p>
          <a:p>
            <a:pPr marL="355600" marR="327660" indent="-34353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56870" algn="l"/>
              </a:tabLst>
            </a:pPr>
            <a:r>
              <a:rPr sz="2400" dirty="0">
                <a:cs typeface="Times New Roman"/>
              </a:rPr>
              <a:t>Managing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large datasets</a:t>
            </a:r>
            <a:r>
              <a:rPr sz="2400" spc="-9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during</a:t>
            </a:r>
            <a:r>
              <a:rPr sz="2400" spc="-2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import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and</a:t>
            </a:r>
            <a:r>
              <a:rPr sz="2400" spc="-2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query</a:t>
            </a:r>
            <a:r>
              <a:rPr sz="2400" spc="-2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processing,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especially</a:t>
            </a:r>
            <a:r>
              <a:rPr sz="2400" spc="-7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with 	</a:t>
            </a:r>
            <a:r>
              <a:rPr sz="2400" dirty="0">
                <a:cs typeface="Times New Roman"/>
              </a:rPr>
              <a:t>multiple</a:t>
            </a:r>
            <a:r>
              <a:rPr sz="2400" spc="-4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joins.</a:t>
            </a:r>
            <a:endParaRPr sz="2400" dirty="0"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663506-DFB6-6C17-0F6A-839D36711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IN" b="1" spc="-420" dirty="0">
                <a:solidFill>
                  <a:srgbClr val="C00000"/>
                </a:solidFill>
                <a:latin typeface="+mn-lt"/>
              </a:rPr>
              <a:t>C O N C L U S I O N</a:t>
            </a:r>
            <a:endParaRPr lang="en-IN" b="1" dirty="0">
              <a:latin typeface="+mn-l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0" y="6154547"/>
            <a:ext cx="3227831" cy="676656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D7FDCD9-581F-78A5-FE48-E9562AAC5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69724"/>
            <a:ext cx="106680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project shows how SQL databases help manage and improve retail  operations.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analyzes products, customers, suppliers, and employees using structured tables and queries.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features like joins, aggregations, and subqueries were applied effectively.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Insights from sales and revenue trends highlight the importance of data analysis.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Overall, it is a practical and scalable system for managing grocery store data.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2743200"/>
            <a:ext cx="3703934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6000" b="1" dirty="0">
                <a:solidFill>
                  <a:srgbClr val="C00000"/>
                </a:solidFill>
                <a:latin typeface="+mn-lt"/>
              </a:rPr>
              <a:t>THANK </a:t>
            </a:r>
            <a:br>
              <a:rPr lang="en-IN" sz="6000" b="1" dirty="0">
                <a:solidFill>
                  <a:srgbClr val="C00000"/>
                </a:solidFill>
                <a:latin typeface="+mn-lt"/>
              </a:rPr>
            </a:br>
            <a:r>
              <a:rPr lang="en-IN" sz="6000" b="1" dirty="0">
                <a:solidFill>
                  <a:srgbClr val="C00000"/>
                </a:solidFill>
                <a:latin typeface="+mn-lt"/>
              </a:rPr>
              <a:t>YOU</a:t>
            </a:r>
            <a:br>
              <a:rPr lang="en-IN" sz="6000" dirty="0"/>
            </a:br>
            <a:br>
              <a:rPr lang="en-IN" sz="6000" dirty="0"/>
            </a:br>
            <a:endParaRPr lang="en-IN" sz="6000" b="1" dirty="0">
              <a:solidFill>
                <a:srgbClr val="C00000"/>
              </a:solidFill>
              <a:latin typeface="+mn-lt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600" y="2906578"/>
            <a:ext cx="550849" cy="10448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1768" y="6181343"/>
            <a:ext cx="3227831" cy="67665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EFA5E70-DB3E-60D1-A1FF-2CF3D274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467" y="2644721"/>
            <a:ext cx="4055557" cy="257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</TotalTime>
  <Words>759</Words>
  <Application>Microsoft Office PowerPoint</Application>
  <PresentationFormat>Widescreen</PresentationFormat>
  <Paragraphs>116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MT</vt:lpstr>
      <vt:lpstr>Calibri</vt:lpstr>
      <vt:lpstr>Calibri Light</vt:lpstr>
      <vt:lpstr>Times New Roman</vt:lpstr>
      <vt:lpstr>Wingdings</vt:lpstr>
      <vt:lpstr>Office Theme</vt:lpstr>
      <vt:lpstr>   GROCERY   STORE    MANAGEMENT   </vt:lpstr>
      <vt:lpstr>INTRODUCTION</vt:lpstr>
      <vt:lpstr>TABLES</vt:lpstr>
      <vt:lpstr>ORDER_DETAILS TABLE</vt:lpstr>
      <vt:lpstr>PROBLEM STATEMENT</vt:lpstr>
      <vt:lpstr>Objectives</vt:lpstr>
      <vt:lpstr>ER DIAGRAM</vt:lpstr>
      <vt:lpstr>1.How many unique customers have placed orders?</vt:lpstr>
      <vt:lpstr>PowerPoint Presentation</vt:lpstr>
      <vt:lpstr>PowerPoint Presentation</vt:lpstr>
      <vt:lpstr>5.How many products exist in each category?</vt:lpstr>
      <vt:lpstr>6.What is the average price of products by category?</vt:lpstr>
      <vt:lpstr>7.Which products have the highest total sales volume (by quantity)?</vt:lpstr>
      <vt:lpstr>8.What is the total revenue generated by each product?</vt:lpstr>
      <vt:lpstr>9.How do product sales vary by category and supplier?</vt:lpstr>
      <vt:lpstr>10.How many orders have been placed in total?</vt:lpstr>
      <vt:lpstr>12.On which dates were the most orders placed?</vt:lpstr>
      <vt:lpstr>14.How do order patterns vary across weekdays and months?</vt:lpstr>
      <vt:lpstr>15.How many suppliers are there in the database?</vt:lpstr>
      <vt:lpstr>17.What is the average price of products from each supplier?</vt:lpstr>
      <vt:lpstr>19.How many employees have processed orders?</vt:lpstr>
      <vt:lpstr>PowerPoint Presentation</vt:lpstr>
      <vt:lpstr>22.What is the average order value handled per employee?</vt:lpstr>
      <vt:lpstr>24.What is the average quantity ordered per product?</vt:lpstr>
      <vt:lpstr>PowerPoint Presentation</vt:lpstr>
      <vt:lpstr> CHALLENGES</vt:lpstr>
      <vt:lpstr>C O N C L U S I O N</vt:lpstr>
      <vt:lpstr>THANK 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Vijay Golliwar</cp:lastModifiedBy>
  <cp:revision>10</cp:revision>
  <dcterms:created xsi:type="dcterms:W3CDTF">2025-11-24T10:47:53Z</dcterms:created>
  <dcterms:modified xsi:type="dcterms:W3CDTF">2025-11-26T12:25:58Z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2025-11-24T00:00:00Z</vt:filetime>
  </property>
  <property fmtid="{D5CDD505-2E9C-101B-9397-08002B2CF9AE}" pid="5" name="Producer">
    <vt:lpwstr>www.ilovepdf.com</vt:lpwstr>
  </property>
</Properties>
</file>